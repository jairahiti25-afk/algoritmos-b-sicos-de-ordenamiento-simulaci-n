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CB4BC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76656"/>
            <a:ext cx="109728" cy="5349240"/>
          </a:xfrm>
          <a:prstGeom prst="rect">
            <a:avLst/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822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B856"/>
                </a:solidFill>
                <a:latin typeface="Aptos"/>
              </a:defRPr>
            </a:pPr>
            <a:r>
              <a:t>PROYECTO DE PROGRAMACIÓN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5" y="1536192"/>
            <a:ext cx="731520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Ordenar tickets</a:t>
            </a:r>
          </a:p>
          <a:p>
            <a:pPr>
              <a:spcAft>
                <a:spcPts val="6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sin perderse</a:t>
            </a:r>
          </a:p>
          <a:p>
            <a:pPr>
              <a:spcAft>
                <a:spcPts val="6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en el intento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4069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C3D8DA"/>
                </a:solidFill>
                <a:latin typeface="Aptos"/>
              </a:defRPr>
            </a:pPr>
            <a:r>
              <a:t>Mini tienda  ·  Burbuja, inserción y selección en 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39327" y="4505640"/>
            <a:ext cx="353961" cy="706439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176456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7967" y="4016567"/>
            <a:ext cx="353961" cy="1195512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1392" y="3687383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7" y="4369786"/>
            <a:ext cx="353961" cy="842293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00032" y="4040602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85248" y="3636176"/>
            <a:ext cx="353961" cy="1575903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8672" y="3306992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33888" y="4125250"/>
            <a:ext cx="353961" cy="1086829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97312" y="3796066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82528" y="3310127"/>
            <a:ext cx="353961" cy="190195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45952" y="2980943"/>
            <a:ext cx="42711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01 · 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¿Qué problema queremos resolver?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1024128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B2C3B"/>
                </a:solidFill>
                <a:latin typeface="Aptos"/>
              </a:defRPr>
            </a:pPr>
            <a:r>
              <a:t>En una mini tienda, los folios de los tickets se van registrando conforme llegan. Si queremos revisarlos después, conviene tenerlos en orden.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36976"/>
            <a:ext cx="10725912" cy="2148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9848" y="3529584"/>
            <a:ext cx="932688" cy="320040"/>
          </a:xfrm>
          <a:prstGeom prst="roundRect">
            <a:avLst>
              <a:gd name="adj" fmla="val 16000"/>
            </a:avLst>
          </a:prstGeom>
          <a:solidFill>
            <a:srgbClr val="F9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3589020"/>
            <a:ext cx="7223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AC583F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3429000"/>
            <a:ext cx="7772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4288" y="3593592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429000"/>
            <a:ext cx="7772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3593592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6512" y="3429000"/>
            <a:ext cx="7772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3593592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3429000"/>
            <a:ext cx="7772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92624" y="3593592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4206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57B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529584"/>
            <a:ext cx="1197864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3589020"/>
            <a:ext cx="9875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DESPUÉS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429000"/>
            <a:ext cx="612648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593592"/>
            <a:ext cx="6126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4544" y="3429000"/>
            <a:ext cx="612648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24544" y="3593592"/>
            <a:ext cx="6126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3429000"/>
            <a:ext cx="612648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19488" y="3593592"/>
            <a:ext cx="6126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4432" y="3429000"/>
            <a:ext cx="612648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14432" y="3593592"/>
            <a:ext cx="61264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882896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2717B"/>
                </a:solidFill>
                <a:latin typeface="Aptos"/>
              </a:defRPr>
            </a:pPr>
            <a:r>
              <a:t>La idea es sencilla: acomodar los números de menor a mayor y mostrar cómo se consigue.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02 ·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¿Qué hicimos en el programa?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B2C3B"/>
                </a:solidFill>
                <a:latin typeface="Aptos"/>
              </a:defRPr>
            </a:pPr>
            <a:r>
              <a:t>Creamos una aplicación en Java para ver cómo se ordena una lista de folios, no solo para obtener el resultado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36392"/>
            <a:ext cx="3520440" cy="1993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3346704"/>
            <a:ext cx="731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57B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867912"/>
            <a:ext cx="299008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C3B"/>
                </a:solidFill>
                <a:latin typeface="Aptos"/>
              </a:defRPr>
            </a:pPr>
            <a:r>
              <a:t>Generar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88536"/>
            <a:ext cx="304495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2717B"/>
                </a:solidFill>
                <a:latin typeface="Aptos"/>
              </a:defRPr>
            </a:pPr>
            <a:r>
              <a:t>Trabajar con 10 números de ejemplo.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3136392"/>
            <a:ext cx="3520440" cy="1993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3346704"/>
            <a:ext cx="731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57B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867912"/>
            <a:ext cx="299008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C3B"/>
                </a:solidFill>
                <a:latin typeface="Aptos"/>
              </a:defRPr>
            </a:pPr>
            <a:r>
              <a:t>Ordenar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4288536"/>
            <a:ext cx="304495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2717B"/>
                </a:solidFill>
                <a:latin typeface="Aptos"/>
              </a:defRPr>
            </a:pPr>
            <a:r>
              <a:t>Probar tres algoritmos diferentes.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3136392"/>
            <a:ext cx="3520440" cy="19933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7072" y="3346704"/>
            <a:ext cx="731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57B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3867912"/>
            <a:ext cx="2990088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C3B"/>
                </a:solidFill>
                <a:latin typeface="Aptos"/>
              </a:defRPr>
            </a:pPr>
            <a:r>
              <a:t>Observar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4288536"/>
            <a:ext cx="3044952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2717B"/>
                </a:solidFill>
                <a:latin typeface="Aptos"/>
              </a:defRPr>
            </a:pPr>
            <a:r>
              <a:t>Ver cambios y contar operaciones.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70585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57B83"/>
                </a:solidFill>
                <a:latin typeface="Aptos"/>
              </a:defRPr>
            </a:pPr>
            <a:r>
              <a:t>Lo más importante de la práctica es entender qué hace cada método paso a paso.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03 ·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Así está hecho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057400"/>
            <a:ext cx="3538728" cy="2697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331720"/>
            <a:ext cx="1143000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3911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2C3B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52044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2717B"/>
                </a:solidFill>
                <a:latin typeface="Aptos"/>
              </a:defRPr>
            </a:pPr>
            <a:r>
              <a:t>Es el lenguaje en el que se programaron los métodos de ordenamiento.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057400"/>
            <a:ext cx="3538728" cy="2697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00600" y="2331720"/>
            <a:ext cx="1143000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9472" y="23911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2C3B"/>
                </a:solidFill>
                <a:latin typeface="Aptos"/>
              </a:defRPr>
            </a:pPr>
            <a:r>
              <a:t>Swing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2044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2717B"/>
                </a:solidFill>
                <a:latin typeface="Aptos"/>
              </a:defRPr>
            </a:pPr>
            <a:r>
              <a:t>Sirve para presentar el arreglo en una ventana y observar los cambios.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057400"/>
            <a:ext cx="3538728" cy="2697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59367" y="2331720"/>
            <a:ext cx="1143000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23911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880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B2C3B"/>
                </a:solidFill>
                <a:latin typeface="Aptos"/>
              </a:defRPr>
            </a:pPr>
            <a:r>
              <a:t>int[]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3520440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2717B"/>
                </a:solidFill>
                <a:latin typeface="Aptos"/>
              </a:defRPr>
            </a:pPr>
            <a:r>
              <a:t>Guarda diez folios de prueba, generados entre 15 y 99.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166360"/>
            <a:ext cx="10332720" cy="713232"/>
          </a:xfrm>
          <a:prstGeom prst="roundRect">
            <a:avLst>
              <a:gd name="adj" fmla="val 16000"/>
            </a:avLst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" y="5367528"/>
            <a:ext cx="877824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FFFFF"/>
                </a:solidFill>
                <a:latin typeface="Aptos Mono"/>
              </a:defRPr>
            </a:pPr>
            <a:r>
              <a:t>int[] folios = new int[10];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04 · 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¿Qué se ve en pantalla?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7543800" cy="40050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212848"/>
            <a:ext cx="7004304" cy="484632"/>
          </a:xfrm>
          <a:prstGeom prst="roundRect">
            <a:avLst>
              <a:gd name="adj" fmla="val 16000"/>
            </a:avLst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295144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Simulación de ordenamiento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48456"/>
            <a:ext cx="407055" cy="905255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5024" y="3319272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02536" y="4151376"/>
            <a:ext cx="407055" cy="402336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3822191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3950208"/>
            <a:ext cx="407055" cy="603504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621024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4408" y="4312310"/>
            <a:ext cx="407055" cy="241401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27832" y="3983126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95344" y="3789273"/>
            <a:ext cx="407055" cy="764438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58768" y="3460089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407055" cy="1307592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2916936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7216" y="4111142"/>
            <a:ext cx="407055" cy="442569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3781958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88152" y="3588105"/>
            <a:ext cx="407055" cy="965606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51576" y="3258921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3849624"/>
            <a:ext cx="407055" cy="704087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3520440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0024" y="3527755"/>
            <a:ext cx="407055" cy="1025956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13448" y="3198571"/>
            <a:ext cx="4802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" y="4873752"/>
            <a:ext cx="2926080" cy="566928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5029200"/>
            <a:ext cx="24688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57B83"/>
                </a:solidFill>
                <a:latin typeface="Aptos"/>
              </a:defRPr>
            </a:pPr>
            <a:r>
              <a:t>Comparaciones:  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873752"/>
            <a:ext cx="3246120" cy="566928"/>
          </a:xfrm>
          <a:prstGeom prst="roundRect">
            <a:avLst>
              <a:gd name="adj" fmla="val 16000"/>
            </a:avLst>
          </a:prstGeom>
          <a:solidFill>
            <a:srgbClr val="FBE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9704" y="5029200"/>
            <a:ext cx="2807208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2692B"/>
                </a:solidFill>
                <a:latin typeface="Aptos"/>
              </a:defRPr>
            </a:pPr>
            <a:r>
              <a:t>Movimientos: 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05088" y="2084831"/>
            <a:ext cx="2423160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2144268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ESQUEMA ILUSTRATIVO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2697480"/>
            <a:ext cx="2587752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Las barras representan los valores del arreglo. Los colores ayudan a identificar qué elementos se están comparando.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6099048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2717B"/>
                </a:solidFill>
                <a:latin typeface="Aptos"/>
              </a:defRPr>
            </a:pPr>
            <a:r>
              <a:t>La imagen es una recreación; puede sustituirse por una captura del programa.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05 · MÉTODO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Burbuja: comparar vecinos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B2C3B"/>
                </a:solidFill>
                <a:latin typeface="Aptos"/>
              </a:defRPr>
            </a:pPr>
            <a:r>
              <a:t>Este método revisa dos números que están juntos. Si el primero es mayor, los cambia de lugar.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944368"/>
            <a:ext cx="3529584" cy="1965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3172968"/>
            <a:ext cx="30540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Inicio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83664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07208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6" y="2944368"/>
            <a:ext cx="3529584" cy="1965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82312" y="3172968"/>
            <a:ext cx="30540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Primer cambio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4144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7688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03336" y="2944368"/>
            <a:ext cx="3529584" cy="1965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3172968"/>
            <a:ext cx="305409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Segundo cambio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8168" y="3776472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88168" y="3941063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5358384"/>
            <a:ext cx="10561320" cy="621792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55046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Se entiende fácil, aunque suele hacer muchas comparaciones.  ·  Tiempo: O(n²)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06 · MÉTODO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Inserción: poner cada valor en su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B2C3B"/>
                </a:solidFill>
                <a:latin typeface="Aptos"/>
              </a:defRPr>
            </a:pPr>
            <a:r>
              <a:t>Funciona como cuando ordenamos cartas: tomamos un valor y lo acomodamos dentro de los que ya están ordenados.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906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C3B"/>
                </a:solidFill>
                <a:latin typeface="Aptos"/>
              </a:defRPr>
            </a:pPr>
            <a:r>
              <a:t>Empezamos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9077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3072384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29077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56632" y="3072384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29077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9904" y="3072384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050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C3B"/>
                </a:solidFill>
                <a:latin typeface="Aptos"/>
              </a:defRPr>
            </a:pPr>
            <a:r>
              <a:t>Colocamos el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822191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0" y="39867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6632" y="3822191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6632" y="39867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822191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9904" y="39867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919472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C3B"/>
                </a:solidFill>
                <a:latin typeface="Aptos"/>
              </a:defRPr>
            </a:pPr>
            <a:r>
              <a:t>Después el 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7365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49011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6632" y="47365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56632" y="49011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868680" cy="713232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9904" y="4901183"/>
            <a:ext cx="868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2880360"/>
            <a:ext cx="3044952" cy="2852928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40496" y="31729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57B83"/>
                </a:solidFill>
                <a:latin typeface="Aptos"/>
              </a:defRPr>
            </a:pPr>
            <a:r>
              <a:t>Dato útil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3767328"/>
            <a:ext cx="2404872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Si los números ya están casi ordenados, inserción puede hacer menos trabajo.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07 · MÉTODO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Selección: encontrar el menor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B2C3B"/>
                </a:solidFill>
                <a:latin typeface="Aptos"/>
              </a:defRPr>
            </a:pPr>
            <a:r>
              <a:t>Primero busca el número más pequeño y lo lleva al inicio. Después repite lo mismo con el resto.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44368"/>
            <a:ext cx="3520440" cy="23042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3191256"/>
            <a:ext cx="1033271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250692"/>
            <a:ext cx="82295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2926080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Buscar el menor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83664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83664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07208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44368"/>
            <a:ext cx="3520440" cy="23042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00600" y="3191256"/>
            <a:ext cx="1033271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3250692"/>
            <a:ext cx="82295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11880"/>
            <a:ext cx="2926080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Moverlo al inicio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24144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4144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7688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47688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2944368"/>
            <a:ext cx="3520440" cy="23042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41080" y="3191256"/>
            <a:ext cx="1033271" cy="320040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9952" y="3250692"/>
            <a:ext cx="82295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611880"/>
            <a:ext cx="2926080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Repetir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4624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64624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168" y="4288536"/>
            <a:ext cx="813816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DC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88168" y="4453128"/>
            <a:ext cx="813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1B2C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5705856"/>
            <a:ext cx="1060704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Hace un número parecido de comparaciones aunque la lista ya esté ordenada.  ·  O(n²)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08 · 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¿En qué se diferencian?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10735056" cy="612648"/>
          </a:xfrm>
          <a:prstGeom prst="roundRect">
            <a:avLst>
              <a:gd name="adj" fmla="val 16000"/>
            </a:avLst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7" y="234086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MEJOR CASO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340864"/>
            <a:ext cx="224027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PROMEDIO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234086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PEOR CASO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62072"/>
            <a:ext cx="10735056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44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Burbuja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7" y="3044952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44952"/>
            <a:ext cx="22402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984" y="304495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79"/>
            <a:ext cx="10735056" cy="676656"/>
          </a:xfrm>
          <a:prstGeom prst="roundRect">
            <a:avLst>
              <a:gd name="adj" fmla="val 16000"/>
            </a:avLst>
          </a:prstGeom>
          <a:solidFill>
            <a:srgbClr val="EA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Inserción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7" y="3794759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57B83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794759"/>
            <a:ext cx="22402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3794759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61688"/>
            <a:ext cx="10735056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C3B"/>
                </a:solidFill>
                <a:latin typeface="Aptos"/>
              </a:defRPr>
            </a:pPr>
            <a:r>
              <a:t>Selección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7" y="454456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44568"/>
            <a:ext cx="22402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454456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40680"/>
            <a:ext cx="10735056" cy="612648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" y="5596128"/>
            <a:ext cx="10149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57B83"/>
                </a:solidFill>
                <a:latin typeface="Aptos"/>
              </a:defRPr>
            </a:pPr>
            <a:r>
              <a:t>Los tres usan poca memoria extra: O(1). Aquí comparamos el crecimiento del trabajo, no tiempos medidos.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09 · CASOS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¿Cómo comprobamos que ordena bien?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B2C3B"/>
                </a:solidFill>
                <a:latin typeface="Aptos"/>
              </a:defRPr>
            </a:pPr>
            <a:r>
              <a:t>Estas son pruebas que podemos usar con los tres métodos para revisar diferentes situaciones.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" y="2761488"/>
            <a:ext cx="10680192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" y="2761488"/>
            <a:ext cx="82296" cy="603504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1693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C3B"/>
                </a:solidFill>
                <a:latin typeface="Aptos"/>
              </a:defRPr>
            </a:pPr>
            <a:r>
              <a:t>Valores mezclados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916936"/>
            <a:ext cx="2679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17B"/>
                </a:solidFill>
                <a:latin typeface="Aptos"/>
              </a:defRPr>
            </a:pPr>
            <a:r>
              <a:t>45, 20, 30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4206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57B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291693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20, 30, 45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" y="3474720"/>
            <a:ext cx="10680192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" y="3474720"/>
            <a:ext cx="82296" cy="603504"/>
          </a:xfrm>
          <a:prstGeom prst="rect">
            <a:avLst/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630168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C3B"/>
                </a:solidFill>
                <a:latin typeface="Aptos"/>
              </a:defRPr>
            </a:pPr>
            <a:r>
              <a:t>Valores repetidos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3630168"/>
            <a:ext cx="2679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17B"/>
                </a:solidFill>
                <a:latin typeface="Aptos"/>
              </a:defRPr>
            </a:pPr>
            <a:r>
              <a:t>4, 2, 4, 1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47872"/>
            <a:ext cx="4206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57B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363016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1, 2, 4, 4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" y="4187952"/>
            <a:ext cx="10680192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" y="4187952"/>
            <a:ext cx="82296" cy="603504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4340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C3B"/>
                </a:solidFill>
                <a:latin typeface="Aptos"/>
              </a:defRPr>
            </a:pPr>
            <a:r>
              <a:t>Ya ordenado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4343400"/>
            <a:ext cx="2679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17B"/>
                </a:solidFill>
                <a:latin typeface="Aptos"/>
              </a:defRPr>
            </a:pPr>
            <a:r>
              <a:t>1, 2, 3, 4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61104"/>
            <a:ext cx="4206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57B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434340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1, 2, 3, 4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" y="4901183"/>
            <a:ext cx="10680192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0664" y="4901183"/>
            <a:ext cx="82296" cy="603504"/>
          </a:xfrm>
          <a:prstGeom prst="rect">
            <a:avLst/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056631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C3B"/>
                </a:solidFill>
                <a:latin typeface="Aptos"/>
              </a:defRPr>
            </a:pPr>
            <a:r>
              <a:t>Orden inverso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5056631"/>
            <a:ext cx="26791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17B"/>
                </a:solidFill>
                <a:latin typeface="Aptos"/>
              </a:defRPr>
            </a:pPr>
            <a:r>
              <a:t>4, 3, 2, 1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74336"/>
            <a:ext cx="4206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57B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5056631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57B83"/>
                </a:solidFill>
                <a:latin typeface="Aptos"/>
              </a:defRPr>
            </a:pPr>
            <a:r>
              <a:t>1, 2, 3, 4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925312"/>
            <a:ext cx="105156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62717B"/>
                </a:solidFill>
                <a:latin typeface="Aptos"/>
              </a:defRPr>
            </a:pPr>
            <a:r>
              <a:t>Ejemplos de prueba propuestos; no representan resultados de una ejecución documentada.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57B83"/>
                </a:solidFill>
                <a:latin typeface="Aptos"/>
              </a:defRPr>
            </a:pPr>
            <a:r>
              <a:t>10 ·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1B2C3B"/>
                </a:solidFill>
                <a:latin typeface="Aptos"/>
              </a:defRPr>
            </a:pPr>
            <a:r>
              <a:t>¿Qué le falta al proyecto?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91640"/>
            <a:ext cx="658368" cy="50292"/>
          </a:xfrm>
          <a:prstGeom prst="rect">
            <a:avLst/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2717B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5129784" cy="3172968"/>
          </a:xfrm>
          <a:prstGeom prst="roundRect">
            <a:avLst>
              <a:gd name="adj" fmla="val 16000"/>
            </a:avLst>
          </a:prstGeom>
          <a:solidFill>
            <a:srgbClr val="FB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04872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AD6047"/>
                </a:solidFill>
                <a:latin typeface="Aptos"/>
              </a:defRPr>
            </a:pPr>
            <a:r>
              <a:t>Por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08960"/>
            <a:ext cx="4480560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B2C3B"/>
                </a:solidFill>
                <a:latin typeface="Aptos"/>
              </a:defRPr>
            </a:pPr>
            <a:r>
              <a:t>El programa trabaja con números de prueba y los ordena. Todavía no permite buscar un folio específico.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57400"/>
            <a:ext cx="5129784" cy="3172968"/>
          </a:xfrm>
          <a:prstGeom prst="roundRect">
            <a:avLst>
              <a:gd name="adj" fmla="val 16000"/>
            </a:avLst>
          </a:prstGeom>
          <a:solidFill>
            <a:srgbClr val="DD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2404872"/>
            <a:ext cx="44805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57B83"/>
                </a:solidFill>
                <a:latin typeface="Aptos"/>
              </a:defRPr>
            </a:pPr>
            <a:r>
              <a:t>Podríamos agregar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3063240"/>
            <a:ext cx="4489704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• Captura de folios reales</a:t>
            </a:r>
          </a:p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• Búsqueda secuencial</a:t>
            </a:r>
          </a:p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• Búsqueda binaria</a:t>
            </a:r>
          </a:p>
          <a:p>
            <a:pPr>
              <a:spcAft>
                <a:spcPts val="600"/>
              </a:spcAft>
              <a:defRPr sz="1800" b="0">
                <a:solidFill>
                  <a:srgbClr val="1B2C3B"/>
                </a:solidFill>
                <a:latin typeface="Aptos"/>
              </a:defRPr>
            </a:pPr>
            <a:r>
              <a:t>• Más controles en la ventana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660136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17B"/>
                </a:solidFill>
                <a:latin typeface="Aptos"/>
              </a:defRPr>
            </a:pPr>
            <a:r>
              <a:t>Esas funciones son propuestas para una próxima versión, no características implementadas.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81360" y="6473952"/>
            <a:ext cx="64008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CB4BC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0B856"/>
                </a:solidFill>
                <a:latin typeface="Aptos"/>
              </a:defRPr>
            </a:pPr>
            <a:r>
              <a:t>LO QUE APRENDIMOS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692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Tres caminos,</a:t>
            </a:r>
          </a:p>
          <a:p>
            <a:pPr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un mismo resultado.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383280"/>
            <a:ext cx="97840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DCE8E8"/>
                </a:solidFill>
                <a:latin typeface="Aptos"/>
              </a:defRPr>
            </a:pPr>
            <a:r>
              <a:t>Burbuja compara vecinos; inserción acomoda cada elemento; selección busca el menor. Todos ordenan, pero no trabajan de la misma manera.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5248656"/>
            <a:ext cx="7223760" cy="82296"/>
          </a:xfrm>
          <a:prstGeom prst="rect">
            <a:avLst/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5550408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0B856"/>
                </a:solidFill>
                <a:latin typeface="Aptos"/>
              </a:defRPr>
            </a:pPr>
            <a:r>
              <a:t>Gracias por su atención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1472" y="5273608"/>
            <a:ext cx="270190" cy="450535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54896" y="4944424"/>
            <a:ext cx="34334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10267" y="4917922"/>
            <a:ext cx="270190" cy="806221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3691" y="4588738"/>
            <a:ext cx="34334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29062" y="5131333"/>
            <a:ext cx="270190" cy="592810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92486" y="4802149"/>
            <a:ext cx="34334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47857" y="4609660"/>
            <a:ext cx="270190" cy="1114483"/>
          </a:xfrm>
          <a:prstGeom prst="roundRect">
            <a:avLst>
              <a:gd name="adj" fmla="val 16000"/>
            </a:avLst>
          </a:prstGeom>
          <a:solidFill>
            <a:srgbClr val="15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11281" y="4280476"/>
            <a:ext cx="34334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66652" y="4325112"/>
            <a:ext cx="270190" cy="1399032"/>
          </a:xfrm>
          <a:prstGeom prst="roundRect">
            <a:avLst>
              <a:gd name="adj" fmla="val 16000"/>
            </a:avLst>
          </a:prstGeom>
          <a:solidFill>
            <a:srgbClr val="F0B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30076" y="3995927"/>
            <a:ext cx="34334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B2C3B"/>
                </a:solidFill>
                <a:latin typeface="Aptos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Panorámica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AGUAS</cp:lastModifiedBy>
  <cp:revision>2</cp:revision>
  <dcterms:created xsi:type="dcterms:W3CDTF">2013-01-27T09:14:16Z</dcterms:created>
  <dcterms:modified xsi:type="dcterms:W3CDTF">2026-10-27T17:00:18Z</dcterms:modified>
  <cp:category/>
</cp:coreProperties>
</file>